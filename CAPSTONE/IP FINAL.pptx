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91B3-16E5-E612-9AB2-F48D6F472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94710-A86D-9259-117F-68FA11AD0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BD5BA-0710-6E77-9859-BB637F9B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7DE23-C84C-3145-28D7-39E26518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66A8D-F4B6-A128-5659-AEE71685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86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F636-8450-8E7A-A8FF-2B6B0E44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C9B5-F450-5B16-9D3D-85EABF936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58DB-AA88-FABE-FFE6-7458EB7A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F342F-2A5A-F68B-96B1-6C62F596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90C35-67F7-197B-AAC5-DBD4587E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8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45E8-B54E-D833-8814-58F535E3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AB57B-99B9-12E5-29C8-E42CEA980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02565-C713-6387-3408-DBE7DFC0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2B925-04F1-732B-3447-6DDC906C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6EE70-4997-977B-0CA4-BFCF3278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9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4AF-5847-9857-14C9-082C0448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DF166-36B4-96B5-5D50-66F6FBFA7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8FF1B-574C-740C-81CA-F3AA6C8A5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9E321-3053-E55D-0168-0C5CB3BD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922CF-676C-4600-CF6D-D8D60A2D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E50FE-D071-AA97-7529-A3595402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1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623A-F121-7F2E-D502-E717E276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7268-00FB-BF10-49EB-18FB57650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57CEF-5F8F-49B7-85EC-C9AF513B3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3D399-F7B2-39AE-ED7F-D66D36FB0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53536-D820-8029-4E08-604331E6B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6DB72-468B-9BF0-1C86-FE39A3DE1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716C8-F867-D150-99A3-2306F438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2B994-3868-C82C-59C6-A8760A63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1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DAA8-4328-8105-142D-DC0E89F3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3E25F-4DAE-1F57-BDF8-69A56DB9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D3579-52BC-4968-8FA5-0B117402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3E8D9-1A92-8042-9775-A35F000F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0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B89EB-10CC-4849-FEFE-AC686DBC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7F5EC-2D6F-2C19-471B-EE26B2D5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7B197-06AF-0E68-9340-F52919D1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5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9D49-7458-DCB4-750C-D7D69A43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16955-BFCB-B771-362A-776E73E2D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F5A1C-F1C6-3F06-42B5-5BAA6C960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23CE2-A37F-FCCB-1DA1-4FE3E67B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7D905-502F-011C-6C37-03485957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4B8E1-0CBE-6F3E-CA8F-6C2090F6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19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7112-A573-EBD4-6DFF-7A51EACA4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77877-C549-CD64-9858-33A2AC3C7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4F46C-8A18-7C43-EC30-8068A4EB3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69955-A86C-8A0B-C30F-7F13535E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E5D69-A834-03B8-426C-4814911B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DA1F5-97E3-7EF7-C812-94288A97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98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4CFE-395B-8925-73AB-FC3F4746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68ACE-0A90-8984-6846-15B3DD501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75BB3-4108-6F41-63C1-2F7B002C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E32CD-FBAB-D979-CEFA-C8B945DA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462D3-C70D-5F5C-16C3-922E621F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4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4B566-EDFB-785E-3B6F-E15CCAC77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44C2D-52BF-A4E6-7890-97069784B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FF13-12F6-16EA-46D1-7FC4259EB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930A6-690A-7363-AB61-B58508BC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D4439-D210-74B5-558C-C7626332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02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17FF4-A168-E1DB-E213-9EEF0F0E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ABE22-9FB8-6269-49AE-FC2097A1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D84AE-5E4F-66EC-3C78-3BF45C135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EF9DC-39E1-4689-A041-BC84A975B0D6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7F12-7792-9B98-E8DE-16012DB2A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D7A3F-944E-2F63-6C03-595831295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A4A65-566C-490A-BB9F-1E78011C5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0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93CB-1DDE-E1FA-1D5D-3FFBBB399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0533"/>
            <a:ext cx="9144000" cy="1655763"/>
          </a:xfrm>
          <a:custGeom>
            <a:avLst/>
            <a:gdLst>
              <a:gd name="csX0" fmla="*/ 0 w 9144000"/>
              <a:gd name="csY0" fmla="*/ 0 h 1655763"/>
              <a:gd name="csX1" fmla="*/ 378823 w 9144000"/>
              <a:gd name="csY1" fmla="*/ 0 h 1655763"/>
              <a:gd name="csX2" fmla="*/ 1214846 w 9144000"/>
              <a:gd name="csY2" fmla="*/ 0 h 1655763"/>
              <a:gd name="csX3" fmla="*/ 1685109 w 9144000"/>
              <a:gd name="csY3" fmla="*/ 0 h 1655763"/>
              <a:gd name="csX4" fmla="*/ 2246811 w 9144000"/>
              <a:gd name="csY4" fmla="*/ 0 h 1655763"/>
              <a:gd name="csX5" fmla="*/ 3082834 w 9144000"/>
              <a:gd name="csY5" fmla="*/ 0 h 1655763"/>
              <a:gd name="csX6" fmla="*/ 3553097 w 9144000"/>
              <a:gd name="csY6" fmla="*/ 0 h 1655763"/>
              <a:gd name="csX7" fmla="*/ 4023360 w 9144000"/>
              <a:gd name="csY7" fmla="*/ 0 h 1655763"/>
              <a:gd name="csX8" fmla="*/ 4493623 w 9144000"/>
              <a:gd name="csY8" fmla="*/ 0 h 1655763"/>
              <a:gd name="csX9" fmla="*/ 4963886 w 9144000"/>
              <a:gd name="csY9" fmla="*/ 0 h 1655763"/>
              <a:gd name="csX10" fmla="*/ 5434149 w 9144000"/>
              <a:gd name="csY10" fmla="*/ 0 h 1655763"/>
              <a:gd name="csX11" fmla="*/ 6178731 w 9144000"/>
              <a:gd name="csY11" fmla="*/ 0 h 1655763"/>
              <a:gd name="csX12" fmla="*/ 6740434 w 9144000"/>
              <a:gd name="csY12" fmla="*/ 0 h 1655763"/>
              <a:gd name="csX13" fmla="*/ 7393577 w 9144000"/>
              <a:gd name="csY13" fmla="*/ 0 h 1655763"/>
              <a:gd name="csX14" fmla="*/ 7955280 w 9144000"/>
              <a:gd name="csY14" fmla="*/ 0 h 1655763"/>
              <a:gd name="csX15" fmla="*/ 9144000 w 9144000"/>
              <a:gd name="csY15" fmla="*/ 0 h 1655763"/>
              <a:gd name="csX16" fmla="*/ 9144000 w 9144000"/>
              <a:gd name="csY16" fmla="*/ 585036 h 1655763"/>
              <a:gd name="csX17" fmla="*/ 9144000 w 9144000"/>
              <a:gd name="csY17" fmla="*/ 1103842 h 1655763"/>
              <a:gd name="csX18" fmla="*/ 9144000 w 9144000"/>
              <a:gd name="csY18" fmla="*/ 1655763 h 1655763"/>
              <a:gd name="csX19" fmla="*/ 8307977 w 9144000"/>
              <a:gd name="csY19" fmla="*/ 1655763 h 1655763"/>
              <a:gd name="csX20" fmla="*/ 7471954 w 9144000"/>
              <a:gd name="csY20" fmla="*/ 1655763 h 1655763"/>
              <a:gd name="csX21" fmla="*/ 7001691 w 9144000"/>
              <a:gd name="csY21" fmla="*/ 1655763 h 1655763"/>
              <a:gd name="csX22" fmla="*/ 6622869 w 9144000"/>
              <a:gd name="csY22" fmla="*/ 1655763 h 1655763"/>
              <a:gd name="csX23" fmla="*/ 6061166 w 9144000"/>
              <a:gd name="csY23" fmla="*/ 1655763 h 1655763"/>
              <a:gd name="csX24" fmla="*/ 5225143 w 9144000"/>
              <a:gd name="csY24" fmla="*/ 1655763 h 1655763"/>
              <a:gd name="csX25" fmla="*/ 4663440 w 9144000"/>
              <a:gd name="csY25" fmla="*/ 1655763 h 1655763"/>
              <a:gd name="csX26" fmla="*/ 4010297 w 9144000"/>
              <a:gd name="csY26" fmla="*/ 1655763 h 1655763"/>
              <a:gd name="csX27" fmla="*/ 3448594 w 9144000"/>
              <a:gd name="csY27" fmla="*/ 1655763 h 1655763"/>
              <a:gd name="csX28" fmla="*/ 2795451 w 9144000"/>
              <a:gd name="csY28" fmla="*/ 1655763 h 1655763"/>
              <a:gd name="csX29" fmla="*/ 1959429 w 9144000"/>
              <a:gd name="csY29" fmla="*/ 1655763 h 1655763"/>
              <a:gd name="csX30" fmla="*/ 1397726 w 9144000"/>
              <a:gd name="csY30" fmla="*/ 1655763 h 1655763"/>
              <a:gd name="csX31" fmla="*/ 561703 w 9144000"/>
              <a:gd name="csY31" fmla="*/ 1655763 h 1655763"/>
              <a:gd name="csX32" fmla="*/ 0 w 9144000"/>
              <a:gd name="csY32" fmla="*/ 1655763 h 1655763"/>
              <a:gd name="csX33" fmla="*/ 0 w 9144000"/>
              <a:gd name="csY33" fmla="*/ 1120400 h 1655763"/>
              <a:gd name="csX34" fmla="*/ 0 w 9144000"/>
              <a:gd name="csY34" fmla="*/ 618152 h 1655763"/>
              <a:gd name="csX35" fmla="*/ 0 w 9144000"/>
              <a:gd name="csY35" fmla="*/ 0 h 1655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9144000" h="1655763" fill="none" extrusionOk="0">
                <a:moveTo>
                  <a:pt x="0" y="0"/>
                </a:moveTo>
                <a:cubicBezTo>
                  <a:pt x="147256" y="-8238"/>
                  <a:pt x="300309" y="16249"/>
                  <a:pt x="378823" y="0"/>
                </a:cubicBezTo>
                <a:cubicBezTo>
                  <a:pt x="457337" y="-16249"/>
                  <a:pt x="1026293" y="14303"/>
                  <a:pt x="1214846" y="0"/>
                </a:cubicBezTo>
                <a:cubicBezTo>
                  <a:pt x="1403399" y="-14303"/>
                  <a:pt x="1482050" y="6884"/>
                  <a:pt x="1685109" y="0"/>
                </a:cubicBezTo>
                <a:cubicBezTo>
                  <a:pt x="1888168" y="-6884"/>
                  <a:pt x="2082460" y="-3342"/>
                  <a:pt x="2246811" y="0"/>
                </a:cubicBezTo>
                <a:cubicBezTo>
                  <a:pt x="2411162" y="3342"/>
                  <a:pt x="2849424" y="-14598"/>
                  <a:pt x="3082834" y="0"/>
                </a:cubicBezTo>
                <a:cubicBezTo>
                  <a:pt x="3316244" y="14598"/>
                  <a:pt x="3435178" y="-22004"/>
                  <a:pt x="3553097" y="0"/>
                </a:cubicBezTo>
                <a:cubicBezTo>
                  <a:pt x="3671016" y="22004"/>
                  <a:pt x="3917764" y="22433"/>
                  <a:pt x="4023360" y="0"/>
                </a:cubicBezTo>
                <a:cubicBezTo>
                  <a:pt x="4128956" y="-22433"/>
                  <a:pt x="4337368" y="-21396"/>
                  <a:pt x="4493623" y="0"/>
                </a:cubicBezTo>
                <a:cubicBezTo>
                  <a:pt x="4649878" y="21396"/>
                  <a:pt x="4843031" y="18860"/>
                  <a:pt x="4963886" y="0"/>
                </a:cubicBezTo>
                <a:cubicBezTo>
                  <a:pt x="5084741" y="-18860"/>
                  <a:pt x="5272006" y="7542"/>
                  <a:pt x="5434149" y="0"/>
                </a:cubicBezTo>
                <a:cubicBezTo>
                  <a:pt x="5596292" y="-7542"/>
                  <a:pt x="5880351" y="21962"/>
                  <a:pt x="6178731" y="0"/>
                </a:cubicBezTo>
                <a:cubicBezTo>
                  <a:pt x="6477111" y="-21962"/>
                  <a:pt x="6624427" y="10439"/>
                  <a:pt x="6740434" y="0"/>
                </a:cubicBezTo>
                <a:cubicBezTo>
                  <a:pt x="6856441" y="-10439"/>
                  <a:pt x="7190279" y="10601"/>
                  <a:pt x="7393577" y="0"/>
                </a:cubicBezTo>
                <a:cubicBezTo>
                  <a:pt x="7596875" y="-10601"/>
                  <a:pt x="7725397" y="-1525"/>
                  <a:pt x="7955280" y="0"/>
                </a:cubicBezTo>
                <a:cubicBezTo>
                  <a:pt x="8185163" y="1525"/>
                  <a:pt x="8866786" y="3006"/>
                  <a:pt x="9144000" y="0"/>
                </a:cubicBezTo>
                <a:cubicBezTo>
                  <a:pt x="9159197" y="269344"/>
                  <a:pt x="9117040" y="338551"/>
                  <a:pt x="9144000" y="585036"/>
                </a:cubicBezTo>
                <a:cubicBezTo>
                  <a:pt x="9170960" y="831521"/>
                  <a:pt x="9168174" y="944960"/>
                  <a:pt x="9144000" y="1103842"/>
                </a:cubicBezTo>
                <a:cubicBezTo>
                  <a:pt x="9119826" y="1262724"/>
                  <a:pt x="9163086" y="1524677"/>
                  <a:pt x="9144000" y="1655763"/>
                </a:cubicBezTo>
                <a:cubicBezTo>
                  <a:pt x="8793162" y="1620571"/>
                  <a:pt x="8613070" y="1648896"/>
                  <a:pt x="8307977" y="1655763"/>
                </a:cubicBezTo>
                <a:cubicBezTo>
                  <a:pt x="8002884" y="1662630"/>
                  <a:pt x="7698767" y="1686560"/>
                  <a:pt x="7471954" y="1655763"/>
                </a:cubicBezTo>
                <a:cubicBezTo>
                  <a:pt x="7245141" y="1624966"/>
                  <a:pt x="7119503" y="1676882"/>
                  <a:pt x="7001691" y="1655763"/>
                </a:cubicBezTo>
                <a:cubicBezTo>
                  <a:pt x="6883879" y="1634644"/>
                  <a:pt x="6721178" y="1674176"/>
                  <a:pt x="6622869" y="1655763"/>
                </a:cubicBezTo>
                <a:cubicBezTo>
                  <a:pt x="6524560" y="1637350"/>
                  <a:pt x="6314182" y="1666599"/>
                  <a:pt x="6061166" y="1655763"/>
                </a:cubicBezTo>
                <a:cubicBezTo>
                  <a:pt x="5808150" y="1644927"/>
                  <a:pt x="5400210" y="1639726"/>
                  <a:pt x="5225143" y="1655763"/>
                </a:cubicBezTo>
                <a:cubicBezTo>
                  <a:pt x="5050076" y="1671800"/>
                  <a:pt x="4837074" y="1644825"/>
                  <a:pt x="4663440" y="1655763"/>
                </a:cubicBezTo>
                <a:cubicBezTo>
                  <a:pt x="4489806" y="1666701"/>
                  <a:pt x="4333178" y="1668804"/>
                  <a:pt x="4010297" y="1655763"/>
                </a:cubicBezTo>
                <a:cubicBezTo>
                  <a:pt x="3687416" y="1642722"/>
                  <a:pt x="3594301" y="1655438"/>
                  <a:pt x="3448594" y="1655763"/>
                </a:cubicBezTo>
                <a:cubicBezTo>
                  <a:pt x="3302887" y="1656088"/>
                  <a:pt x="2929216" y="1670176"/>
                  <a:pt x="2795451" y="1655763"/>
                </a:cubicBezTo>
                <a:cubicBezTo>
                  <a:pt x="2661686" y="1641350"/>
                  <a:pt x="2356100" y="1659132"/>
                  <a:pt x="1959429" y="1655763"/>
                </a:cubicBezTo>
                <a:cubicBezTo>
                  <a:pt x="1562758" y="1652394"/>
                  <a:pt x="1661435" y="1683685"/>
                  <a:pt x="1397726" y="1655763"/>
                </a:cubicBezTo>
                <a:cubicBezTo>
                  <a:pt x="1134017" y="1627841"/>
                  <a:pt x="816598" y="1627122"/>
                  <a:pt x="561703" y="1655763"/>
                </a:cubicBezTo>
                <a:cubicBezTo>
                  <a:pt x="306808" y="1684404"/>
                  <a:pt x="178488" y="1667077"/>
                  <a:pt x="0" y="1655763"/>
                </a:cubicBezTo>
                <a:cubicBezTo>
                  <a:pt x="7404" y="1535841"/>
                  <a:pt x="25556" y="1387927"/>
                  <a:pt x="0" y="1120400"/>
                </a:cubicBezTo>
                <a:cubicBezTo>
                  <a:pt x="-25556" y="852873"/>
                  <a:pt x="-9037" y="841645"/>
                  <a:pt x="0" y="618152"/>
                </a:cubicBezTo>
                <a:cubicBezTo>
                  <a:pt x="9037" y="394659"/>
                  <a:pt x="-30380" y="170568"/>
                  <a:pt x="0" y="0"/>
                </a:cubicBezTo>
                <a:close/>
              </a:path>
              <a:path w="9144000" h="1655763" stroke="0" extrusionOk="0">
                <a:moveTo>
                  <a:pt x="0" y="0"/>
                </a:moveTo>
                <a:cubicBezTo>
                  <a:pt x="261721" y="23701"/>
                  <a:pt x="330846" y="-13679"/>
                  <a:pt x="561703" y="0"/>
                </a:cubicBezTo>
                <a:cubicBezTo>
                  <a:pt x="792560" y="13679"/>
                  <a:pt x="1155344" y="-11254"/>
                  <a:pt x="1306286" y="0"/>
                </a:cubicBezTo>
                <a:cubicBezTo>
                  <a:pt x="1457228" y="11254"/>
                  <a:pt x="1595970" y="8390"/>
                  <a:pt x="1685109" y="0"/>
                </a:cubicBezTo>
                <a:cubicBezTo>
                  <a:pt x="1774248" y="-8390"/>
                  <a:pt x="2132152" y="4470"/>
                  <a:pt x="2246811" y="0"/>
                </a:cubicBezTo>
                <a:cubicBezTo>
                  <a:pt x="2361470" y="-4470"/>
                  <a:pt x="2621182" y="13750"/>
                  <a:pt x="2808514" y="0"/>
                </a:cubicBezTo>
                <a:cubicBezTo>
                  <a:pt x="2995846" y="-13750"/>
                  <a:pt x="3040718" y="-3786"/>
                  <a:pt x="3187337" y="0"/>
                </a:cubicBezTo>
                <a:cubicBezTo>
                  <a:pt x="3333956" y="3786"/>
                  <a:pt x="3539686" y="22488"/>
                  <a:pt x="3657600" y="0"/>
                </a:cubicBezTo>
                <a:cubicBezTo>
                  <a:pt x="3775514" y="-22488"/>
                  <a:pt x="3954669" y="11476"/>
                  <a:pt x="4036423" y="0"/>
                </a:cubicBezTo>
                <a:cubicBezTo>
                  <a:pt x="4118177" y="-11476"/>
                  <a:pt x="4554448" y="-12360"/>
                  <a:pt x="4872446" y="0"/>
                </a:cubicBezTo>
                <a:cubicBezTo>
                  <a:pt x="5190444" y="12360"/>
                  <a:pt x="5110189" y="13809"/>
                  <a:pt x="5251269" y="0"/>
                </a:cubicBezTo>
                <a:cubicBezTo>
                  <a:pt x="5392349" y="-13809"/>
                  <a:pt x="5580419" y="18342"/>
                  <a:pt x="5721531" y="0"/>
                </a:cubicBezTo>
                <a:cubicBezTo>
                  <a:pt x="5862643" y="-18342"/>
                  <a:pt x="6140315" y="-15250"/>
                  <a:pt x="6283234" y="0"/>
                </a:cubicBezTo>
                <a:cubicBezTo>
                  <a:pt x="6426153" y="15250"/>
                  <a:pt x="6599416" y="-21949"/>
                  <a:pt x="6844937" y="0"/>
                </a:cubicBezTo>
                <a:cubicBezTo>
                  <a:pt x="7090458" y="21949"/>
                  <a:pt x="7472830" y="-40063"/>
                  <a:pt x="7680960" y="0"/>
                </a:cubicBezTo>
                <a:cubicBezTo>
                  <a:pt x="7889090" y="40063"/>
                  <a:pt x="7969818" y="8776"/>
                  <a:pt x="8151223" y="0"/>
                </a:cubicBezTo>
                <a:cubicBezTo>
                  <a:pt x="8332628" y="-8776"/>
                  <a:pt x="8454120" y="18652"/>
                  <a:pt x="8530046" y="0"/>
                </a:cubicBezTo>
                <a:cubicBezTo>
                  <a:pt x="8605972" y="-18652"/>
                  <a:pt x="8946211" y="25797"/>
                  <a:pt x="9144000" y="0"/>
                </a:cubicBezTo>
                <a:cubicBezTo>
                  <a:pt x="9118115" y="243515"/>
                  <a:pt x="9153875" y="311790"/>
                  <a:pt x="9144000" y="535363"/>
                </a:cubicBezTo>
                <a:cubicBezTo>
                  <a:pt x="9134125" y="758936"/>
                  <a:pt x="9118189" y="881369"/>
                  <a:pt x="9144000" y="1070727"/>
                </a:cubicBezTo>
                <a:cubicBezTo>
                  <a:pt x="9169811" y="1260085"/>
                  <a:pt x="9162774" y="1498797"/>
                  <a:pt x="9144000" y="1655763"/>
                </a:cubicBezTo>
                <a:cubicBezTo>
                  <a:pt x="8941272" y="1639209"/>
                  <a:pt x="8574522" y="1629842"/>
                  <a:pt x="8399417" y="1655763"/>
                </a:cubicBezTo>
                <a:cubicBezTo>
                  <a:pt x="8224312" y="1681684"/>
                  <a:pt x="8200634" y="1637059"/>
                  <a:pt x="8020594" y="1655763"/>
                </a:cubicBezTo>
                <a:cubicBezTo>
                  <a:pt x="7840554" y="1674467"/>
                  <a:pt x="7512087" y="1683552"/>
                  <a:pt x="7367451" y="1655763"/>
                </a:cubicBezTo>
                <a:cubicBezTo>
                  <a:pt x="7222815" y="1627974"/>
                  <a:pt x="6993233" y="1632383"/>
                  <a:pt x="6805749" y="1655763"/>
                </a:cubicBezTo>
                <a:cubicBezTo>
                  <a:pt x="6618265" y="1679143"/>
                  <a:pt x="6210577" y="1632329"/>
                  <a:pt x="5969726" y="1655763"/>
                </a:cubicBezTo>
                <a:cubicBezTo>
                  <a:pt x="5728875" y="1679197"/>
                  <a:pt x="5317854" y="1618955"/>
                  <a:pt x="5133703" y="1655763"/>
                </a:cubicBezTo>
                <a:cubicBezTo>
                  <a:pt x="4949552" y="1692571"/>
                  <a:pt x="4749169" y="1637759"/>
                  <a:pt x="4572000" y="1655763"/>
                </a:cubicBezTo>
                <a:cubicBezTo>
                  <a:pt x="4394831" y="1673767"/>
                  <a:pt x="4350042" y="1645276"/>
                  <a:pt x="4193177" y="1655763"/>
                </a:cubicBezTo>
                <a:cubicBezTo>
                  <a:pt x="4036312" y="1666250"/>
                  <a:pt x="3820739" y="1639774"/>
                  <a:pt x="3448594" y="1655763"/>
                </a:cubicBezTo>
                <a:cubicBezTo>
                  <a:pt x="3076449" y="1671752"/>
                  <a:pt x="3123415" y="1663103"/>
                  <a:pt x="2886891" y="1655763"/>
                </a:cubicBezTo>
                <a:cubicBezTo>
                  <a:pt x="2650367" y="1648423"/>
                  <a:pt x="2517341" y="1641266"/>
                  <a:pt x="2233749" y="1655763"/>
                </a:cubicBezTo>
                <a:cubicBezTo>
                  <a:pt x="1950157" y="1670260"/>
                  <a:pt x="1931594" y="1654015"/>
                  <a:pt x="1672046" y="1655763"/>
                </a:cubicBezTo>
                <a:cubicBezTo>
                  <a:pt x="1412498" y="1657511"/>
                  <a:pt x="1378239" y="1666240"/>
                  <a:pt x="1110343" y="1655763"/>
                </a:cubicBezTo>
                <a:cubicBezTo>
                  <a:pt x="842447" y="1645286"/>
                  <a:pt x="544990" y="1636057"/>
                  <a:pt x="0" y="1655763"/>
                </a:cubicBezTo>
                <a:cubicBezTo>
                  <a:pt x="-249" y="1498347"/>
                  <a:pt x="-21999" y="1383952"/>
                  <a:pt x="0" y="1153515"/>
                </a:cubicBezTo>
                <a:cubicBezTo>
                  <a:pt x="21999" y="923078"/>
                  <a:pt x="25621" y="700345"/>
                  <a:pt x="0" y="568479"/>
                </a:cubicBezTo>
                <a:cubicBezTo>
                  <a:pt x="-25621" y="436613"/>
                  <a:pt x="4672" y="23732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58383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A Context-Aware Smart City Information Portal for Intelligent Citizen Service Delivery and Public Engagement</a:t>
            </a:r>
            <a:endParaRPr lang="en-IN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F361178-2735-7B86-7F10-A4A3CCDF22E0}"/>
              </a:ext>
            </a:extLst>
          </p:cNvPr>
          <p:cNvGrpSpPr>
            <a:grpSpLocks noChangeAspect="1"/>
          </p:cNvGrpSpPr>
          <p:nvPr/>
        </p:nvGrpSpPr>
        <p:grpSpPr>
          <a:xfrm>
            <a:off x="3348991" y="390355"/>
            <a:ext cx="5494018" cy="842150"/>
            <a:chOff x="0" y="0"/>
            <a:chExt cx="14477998" cy="2219258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3DAE767-292F-2BE7-858F-8427689687F3}"/>
                </a:ext>
              </a:extLst>
            </p:cNvPr>
            <p:cNvSpPr/>
            <p:nvPr/>
          </p:nvSpPr>
          <p:spPr>
            <a:xfrm>
              <a:off x="0" y="0"/>
              <a:ext cx="14478000" cy="2219198"/>
            </a:xfrm>
            <a:custGeom>
              <a:avLst/>
              <a:gdLst/>
              <a:ahLst/>
              <a:cxnLst/>
              <a:rect l="l" t="t" r="r" b="b"/>
              <a:pathLst>
                <a:path w="14478000" h="2219198">
                  <a:moveTo>
                    <a:pt x="0" y="0"/>
                  </a:moveTo>
                  <a:lnTo>
                    <a:pt x="14478000" y="0"/>
                  </a:lnTo>
                  <a:lnTo>
                    <a:pt x="14478000" y="2219198"/>
                  </a:lnTo>
                  <a:lnTo>
                    <a:pt x="0" y="2219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7"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EE7984F-BA8F-2C80-17DF-08252B443F86}"/>
              </a:ext>
            </a:extLst>
          </p:cNvPr>
          <p:cNvSpPr txBox="1"/>
          <p:nvPr/>
        </p:nvSpPr>
        <p:spPr>
          <a:xfrm>
            <a:off x="1524000" y="4736402"/>
            <a:ext cx="2082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RajaGopal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08675-5FA0-D948-741C-6432D21E4731}"/>
              </a:ext>
            </a:extLst>
          </p:cNvPr>
          <p:cNvSpPr txBox="1"/>
          <p:nvPr/>
        </p:nvSpPr>
        <p:spPr>
          <a:xfrm>
            <a:off x="7857069" y="4574819"/>
            <a:ext cx="3886201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Goutham (192311169)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Bhargav Ram (192425334)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Phani Sridhar Yogi (192311091)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Venkata Kumar Reddy (192311350)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Maheshwar (192211653)</a:t>
            </a:r>
          </a:p>
        </p:txBody>
      </p:sp>
    </p:spTree>
    <p:extLst>
      <p:ext uri="{BB962C8B-B14F-4D97-AF65-F5344CB8AC3E}">
        <p14:creationId xmlns:p14="http://schemas.microsoft.com/office/powerpoint/2010/main" val="235063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8D15-A8B0-C779-A46F-BDCCC6760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533" y="500062"/>
            <a:ext cx="433493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113F-7511-D4EE-D811-4A0651386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678301" lvl="1" indent="-339150">
              <a:lnSpc>
                <a:spcPts val="6314"/>
              </a:lnSpc>
              <a:buFont typeface="Arial"/>
              <a:buChar char="•"/>
            </a:pPr>
            <a:r>
              <a:rPr lang="en-US" sz="3141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Cities generate large amounts of information and services. </a:t>
            </a:r>
          </a:p>
          <a:p>
            <a:pPr marL="678301" lvl="1" indent="-339150">
              <a:lnSpc>
                <a:spcPts val="6314"/>
              </a:lnSpc>
              <a:buFont typeface="Arial"/>
              <a:buChar char="•"/>
            </a:pPr>
            <a:r>
              <a:rPr lang="en-US" sz="3141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Citizens often need multiple websites and applications to access these services. </a:t>
            </a:r>
          </a:p>
          <a:p>
            <a:pPr marL="678301" lvl="1" indent="-339150">
              <a:lnSpc>
                <a:spcPts val="6314"/>
              </a:lnSpc>
              <a:buFont typeface="Arial"/>
              <a:buChar char="•"/>
            </a:pPr>
            <a:r>
              <a:rPr lang="en-US" sz="3141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Our project provides a single platform to access city information efficiently. </a:t>
            </a:r>
          </a:p>
          <a:p>
            <a:pPr marL="678301" lvl="1" indent="-339150">
              <a:lnSpc>
                <a:spcPts val="6314"/>
              </a:lnSpc>
              <a:buFont typeface="Arial"/>
              <a:buChar char="•"/>
            </a:pPr>
            <a:r>
              <a:rPr lang="en-US" sz="3141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The portal improves communication between citizens and city authorities. </a:t>
            </a:r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D07CB914-41DD-B1B0-B126-C9F27F74E8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4E1293A4-23C4-07BD-5FC5-899F5AC3C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87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84F6-5CF5-C985-37F1-D8D8A937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866" y="500062"/>
            <a:ext cx="7552267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B107-5402-9F65-C055-FA3343A6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916" y="1927225"/>
            <a:ext cx="10445751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Existing Issues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City information is scattered across multiple platforms. 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Difficult to track complaints and service requests. 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Lack of centralized emergency notifications. 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Citizens spend time searching for important services.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Solution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Develop a Smart City Information Portal UI that provides all city-related services in one place. </a:t>
            </a:r>
          </a:p>
          <a:p>
            <a:endParaRPr lang="en-IN" dirty="0"/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F61612CF-644B-067A-A7C5-BBFADEF8B1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D560E354-8EAF-69EF-75CE-B9EB0A7934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21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8C37-B10E-43B1-F6BD-DCADE9BD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00062"/>
            <a:ext cx="6324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NEED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0086-623D-2BF8-A7EC-F600983E0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166" y="2006600"/>
            <a:ext cx="8525933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accessibility of public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citizen satisfaction.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processes.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unified digital platform.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complaint handling.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service recommendations.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and alerts.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197E5A33-6D80-CB16-92EA-C592E67D0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60AD6CD-5065-5AA3-E44A-CCAA43AA5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26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2DAC-164C-FAD3-B02B-DD9AF49A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700" y="500062"/>
            <a:ext cx="4546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C92E-3A94-7947-E2C0-436FA41A8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678301" lvl="1" indent="-339150">
              <a:lnSpc>
                <a:spcPct val="17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Provide a centralized city information platform for citizens.</a:t>
            </a:r>
          </a:p>
          <a:p>
            <a:pPr marL="678301" lvl="1" indent="-339150">
              <a:lnSpc>
                <a:spcPct val="17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Simplify access to public services and government resources.</a:t>
            </a:r>
          </a:p>
          <a:p>
            <a:pPr marL="678301" lvl="1" indent="-339150">
              <a:lnSpc>
                <a:spcPct val="17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Enable online complaint registration and tracking efficiently.</a:t>
            </a:r>
          </a:p>
          <a:p>
            <a:pPr marL="678301" lvl="1" indent="-339150">
              <a:lnSpc>
                <a:spcPct val="17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Deliver emergency alerts and city updates in real time.</a:t>
            </a:r>
          </a:p>
          <a:p>
            <a:pPr marL="678301" lvl="1" indent="-339150">
              <a:lnSpc>
                <a:spcPct val="17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Improve citizen engagement and convenience through digital services.</a:t>
            </a:r>
          </a:p>
          <a:p>
            <a:pPr marL="678301" lvl="1" indent="-339150">
              <a:lnSpc>
                <a:spcPct val="17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Facilitate quick communication between citizens and authorities.</a:t>
            </a:r>
          </a:p>
          <a:p>
            <a:pPr marL="678301" lvl="1" indent="-339150">
              <a:lnSpc>
                <a:spcPct val="170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Support informed decision-making using real-time information.</a:t>
            </a:r>
          </a:p>
          <a:p>
            <a:endParaRPr lang="en-IN" dirty="0"/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0216B1D-B28F-2393-8DF9-2ABC7F894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DCC75ED7-F09B-A211-21EF-7324441CC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46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D72B-3573-7FFC-BE1F-B44EA35D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407459"/>
            <a:ext cx="5943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9258CFF7-E6CC-2A54-B648-A414DC5CD3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FFB4FF41-D67B-C013-89F2-D9E1FDDA46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04C59B-169A-65D5-69AF-1F6821CD9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587878"/>
              </p:ext>
            </p:extLst>
          </p:nvPr>
        </p:nvGraphicFramePr>
        <p:xfrm>
          <a:off x="937154" y="1498599"/>
          <a:ext cx="10317692" cy="5135173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{21E4AEA4-8DFA-4A89-87EB-49C32662AFE0}</a:tableStyleId>
              </a:tblPr>
              <a:tblGrid>
                <a:gridCol w="194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4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538">
                <a:tc>
                  <a:txBody>
                    <a:bodyPr/>
                    <a:lstStyle/>
                    <a:p>
                      <a:pPr marL="0" marR="0" indent="0"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Title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343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Smart City Service Delivery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5002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Context-Aware Public Service Recommendation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397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Citizen Engagement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 + IoT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1798"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City Information Portal Using IoT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&amp; Sensor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93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2F54-9EE9-DA00-AE5D-181C386E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499" y="500062"/>
            <a:ext cx="77470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AND LIMITATIONS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7C904B-C128-1F03-3D70-6699D2A1C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122" y="1698624"/>
            <a:ext cx="10399755" cy="4459093"/>
          </a:xfrm>
          <a:prstGeom prst="rect">
            <a:avLst/>
          </a:prstGeom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EA92B552-4505-588F-B86D-C6E0F15FD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7E2F148-414F-5434-B89C-C89D677164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98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6B67-1F01-B318-BC02-5ABD12F7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433" y="500062"/>
            <a:ext cx="9999133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 AND NOVEL FEATURES</a:t>
            </a:r>
            <a:endParaRPr lang="en-IN" sz="3200" dirty="0"/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368FFB5A-9362-60ED-C794-6C8E0FC320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D66C1C03-A301-46F1-4BA6-5024F10980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081C2BE-5A61-1988-724F-8F6D9F9A7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8955" y="1630891"/>
            <a:ext cx="7714090" cy="459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1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95A6-14A6-AC63-CA4C-BD67405C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533" y="500062"/>
            <a:ext cx="5350933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E61DCCB6-852E-BDD4-DCD3-764164ADD7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D16D7F10-4AA6-4FDF-6702-181D535C62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81ABB2-5252-8A1C-2EA5-1F963210D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6413" y="1740959"/>
            <a:ext cx="104857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5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BC8A-D29A-6A51-7418-37E920AB2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0" y="500062"/>
            <a:ext cx="66040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17E9AA-04BD-A491-F125-EC2FDFC47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6428" y="1619690"/>
            <a:ext cx="7479143" cy="4859326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CC2EFD46-F53E-3D20-B9EA-A04E5CCE56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3BFBA5BE-3AC9-63CF-1614-25E3C4C94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882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F55B-945C-ADF2-2FE5-38473B1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766" y="500062"/>
            <a:ext cx="8136467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Technologies, Software &amp; Hardware</a:t>
            </a:r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55C8B08-00C2-C91B-E101-DB0AD38071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095DD606-C3DC-DB0A-5F24-C6D947E86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721977-84B5-3B59-544F-0ECF00A37827}"/>
              </a:ext>
            </a:extLst>
          </p:cNvPr>
          <p:cNvSpPr txBox="1"/>
          <p:nvPr/>
        </p:nvSpPr>
        <p:spPr>
          <a:xfrm>
            <a:off x="1291166" y="2111389"/>
            <a:ext cx="25992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5EA6A-CC2A-FD56-D1B1-959DB6285908}"/>
              </a:ext>
            </a:extLst>
          </p:cNvPr>
          <p:cNvSpPr txBox="1"/>
          <p:nvPr/>
        </p:nvSpPr>
        <p:spPr>
          <a:xfrm>
            <a:off x="5156199" y="2105561"/>
            <a:ext cx="1879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E4DA4-8C94-C11E-78DD-CE6BEC7B5C76}"/>
              </a:ext>
            </a:extLst>
          </p:cNvPr>
          <p:cNvSpPr txBox="1"/>
          <p:nvPr/>
        </p:nvSpPr>
        <p:spPr>
          <a:xfrm>
            <a:off x="9190565" y="2105561"/>
            <a:ext cx="1524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AD5C58-DFBE-EB64-D56E-C1CCEA8E8ABA}"/>
              </a:ext>
            </a:extLst>
          </p:cNvPr>
          <p:cNvSpPr txBox="1"/>
          <p:nvPr/>
        </p:nvSpPr>
        <p:spPr>
          <a:xfrm>
            <a:off x="5156199" y="3802966"/>
            <a:ext cx="18796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400012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8A36-719E-A179-6974-485B6B09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121E99C8-6018-535E-5C14-5BE46679723D}"/>
              </a:ext>
            </a:extLst>
          </p:cNvPr>
          <p:cNvSpPr/>
          <p:nvPr/>
        </p:nvSpPr>
        <p:spPr>
          <a:xfrm>
            <a:off x="6096000" y="2368646"/>
            <a:ext cx="0" cy="4241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BB82E599-082D-7343-EB06-CE0595E1F508}"/>
              </a:ext>
            </a:extLst>
          </p:cNvPr>
          <p:cNvSpPr/>
          <p:nvPr/>
        </p:nvSpPr>
        <p:spPr>
          <a:xfrm>
            <a:off x="6028120" y="2380132"/>
            <a:ext cx="0" cy="4241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E0A75-3BC7-D73F-E301-1A4A2EAE7466}"/>
              </a:ext>
            </a:extLst>
          </p:cNvPr>
          <p:cNvSpPr txBox="1"/>
          <p:nvPr/>
        </p:nvSpPr>
        <p:spPr>
          <a:xfrm>
            <a:off x="838200" y="2192192"/>
            <a:ext cx="4648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 Module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61A51-E22B-8B28-030C-0471CA5D04CC}"/>
              </a:ext>
            </a:extLst>
          </p:cNvPr>
          <p:cNvSpPr txBox="1"/>
          <p:nvPr/>
        </p:nvSpPr>
        <p:spPr>
          <a:xfrm>
            <a:off x="965200" y="4117126"/>
            <a:ext cx="46481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City Services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Offices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B3B976-8BD7-A902-2485-F2B106A19BCF}"/>
              </a:ext>
            </a:extLst>
          </p:cNvPr>
          <p:cNvSpPr txBox="1"/>
          <p:nvPr/>
        </p:nvSpPr>
        <p:spPr>
          <a:xfrm>
            <a:off x="6824133" y="2143378"/>
            <a:ext cx="4648199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Smart Navigation</a:t>
            </a:r>
            <a:endParaRPr lang="en-US" sz="2600" b="1" dirty="0">
              <a:solidFill>
                <a:srgbClr val="000000"/>
              </a:solidFill>
              <a:latin typeface="Times New Roman Bold"/>
              <a:cs typeface="Times New Roman Bold"/>
              <a:sym typeface="Times New Roman Bold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Guidance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by Services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5C260F-B610-2882-6A31-0D7852E671E1}"/>
              </a:ext>
            </a:extLst>
          </p:cNvPr>
          <p:cNvSpPr txBox="1"/>
          <p:nvPr/>
        </p:nvSpPr>
        <p:spPr>
          <a:xfrm>
            <a:off x="6752166" y="3558850"/>
            <a:ext cx="479213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News and Emergency Alerts</a:t>
            </a:r>
            <a:endParaRPr lang="en-US" sz="2600" b="1" dirty="0">
              <a:solidFill>
                <a:srgbClr val="000000"/>
              </a:solidFill>
              <a:latin typeface="Times New Roman Bold"/>
              <a:cs typeface="Times New Roman Bold"/>
              <a:sym typeface="Times New Roman Bold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News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Updates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Notifications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B31D40-16A8-10CE-D620-6F1B0FFA3ACE}"/>
              </a:ext>
            </a:extLst>
          </p:cNvPr>
          <p:cNvSpPr txBox="1"/>
          <p:nvPr/>
        </p:nvSpPr>
        <p:spPr>
          <a:xfrm>
            <a:off x="6752166" y="5132413"/>
            <a:ext cx="55075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5:Citizens Feedback and Public Alert</a:t>
            </a:r>
            <a:endParaRPr lang="en-US" sz="2600" b="1" dirty="0">
              <a:solidFill>
                <a:srgbClr val="000000"/>
              </a:solidFill>
              <a:latin typeface="Times New Roman Bold"/>
              <a:cs typeface="Times New Roman Bold"/>
              <a:sym typeface="Times New Roman Bold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Feedback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</a:t>
            </a:r>
          </a:p>
        </p:txBody>
      </p:sp>
      <p:pic>
        <p:nvPicPr>
          <p:cNvPr id="20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1CEB90C7-69B8-29CD-0040-F611DCED3E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DAAC15BE-131B-7100-6DA0-7C75FDCA22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634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5573-6F2E-F13C-EE21-CE86F6567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500062"/>
            <a:ext cx="72898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2F106-2C7D-35B0-4033-8FFA4F2DD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12961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3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Registration with secure account creation and validation process.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3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Login using authenticated credentials for system access.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3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Profile Management for updating personal and contact information.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3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 Recovery and account security through verification methods.</a:t>
            </a:r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D635069-4BD9-24C6-E12F-C69102D61F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C42C2512-89DB-D6C6-39BE-2B00DCC791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866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126E-2D5A-8C42-E937-C886CC83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133" y="500062"/>
            <a:ext cx="6417733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City Services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AD278-1439-5D21-310B-251764D8F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916" y="2099203"/>
            <a:ext cx="7459133" cy="2523597"/>
          </a:xfrm>
        </p:spPr>
        <p:txBody>
          <a:bodyPr>
            <a:normAutofit fontScale="47500" lnSpcReduction="20000"/>
          </a:bodyPr>
          <a:lstStyle/>
          <a:p>
            <a:pPr marL="669299" lvl="1" indent="-334650">
              <a:lnSpc>
                <a:spcPct val="22000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detailed information about nearby hospitals and healthcare facilities.</a:t>
            </a:r>
          </a:p>
          <a:p>
            <a:pPr marL="669299" lvl="1" indent="-334650">
              <a:lnSpc>
                <a:spcPct val="22000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schools, colleges, and educational institution information easily.</a:t>
            </a:r>
          </a:p>
          <a:p>
            <a:pPr marL="669299" lvl="1" indent="-334650">
              <a:lnSpc>
                <a:spcPct val="22000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 government offices and access public service information.</a:t>
            </a:r>
          </a:p>
          <a:p>
            <a:pPr marL="669299" lvl="1" indent="-334650">
              <a:lnSpc>
                <a:spcPct val="22000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public transport routes, schedules, and travel details.</a:t>
            </a:r>
          </a:p>
          <a:p>
            <a:endParaRPr lang="en-IN" dirty="0"/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04478FF3-0536-5013-6877-2F6C9955A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9A067111-5055-E8FE-77D7-7BF4AF17B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eform 9">
            <a:extLst>
              <a:ext uri="{FF2B5EF4-FFF2-40B4-BE49-F238E27FC236}">
                <a16:creationId xmlns:a16="http://schemas.microsoft.com/office/drawing/2014/main" id="{886DA238-7C83-B75E-B5CE-3FBEACC59D12}"/>
              </a:ext>
            </a:extLst>
          </p:cNvPr>
          <p:cNvSpPr/>
          <p:nvPr/>
        </p:nvSpPr>
        <p:spPr>
          <a:xfrm>
            <a:off x="4011136" y="4459102"/>
            <a:ext cx="4389913" cy="1826074"/>
          </a:xfrm>
          <a:custGeom>
            <a:avLst/>
            <a:gdLst/>
            <a:ahLst/>
            <a:cxnLst/>
            <a:rect l="l" t="t" r="r" b="b"/>
            <a:pathLst>
              <a:path w="7462826" h="3488871">
                <a:moveTo>
                  <a:pt x="0" y="0"/>
                </a:moveTo>
                <a:lnTo>
                  <a:pt x="7462826" y="0"/>
                </a:lnTo>
                <a:lnTo>
                  <a:pt x="7462826" y="3488871"/>
                </a:lnTo>
                <a:lnTo>
                  <a:pt x="0" y="348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556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BA04-7D47-8C19-6F1E-447EEFF4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100" y="500062"/>
            <a:ext cx="70358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Smart Navigation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0B120-8D84-FB31-4CEC-6D3D2EC1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9895"/>
            <a:ext cx="10515600" cy="4351338"/>
          </a:xfrm>
        </p:spPr>
        <p:txBody>
          <a:bodyPr/>
          <a:lstStyle/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maps for efficient city-wide navigation and exploration.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 guidance with optimized directions for faster travel.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 nearby services based on user location preferences.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real-time traffic updates and navigation assistance.</a:t>
            </a:r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1E5C3DA6-19FB-D2A5-1780-CB16CEC6B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BF23463-B3A1-8CBF-FA2E-B77F44F475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962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7469-4767-D317-8620-0AF2F0601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0" y="559859"/>
            <a:ext cx="90678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4: News &amp; Emergency Alerts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D7B1-ACF3-8243-152D-D346F30D7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9203"/>
            <a:ext cx="10515600" cy="4351338"/>
          </a:xfrm>
        </p:spPr>
        <p:txBody>
          <a:bodyPr>
            <a:normAutofit/>
          </a:bodyPr>
          <a:lstStyle/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latest city news and public announcements.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real-time weather updates and forecast information.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emergency notifications during critical city situations.</a:t>
            </a:r>
          </a:p>
          <a:p>
            <a:pPr marL="669299" lvl="1" indent="-334650">
              <a:lnSpc>
                <a:spcPts val="576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public safety alerts and disaster management updates.</a:t>
            </a:r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9CFFB87B-C0D2-1CD2-DB6C-D2EDC9023F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7BBF9912-76A9-379D-0CBB-BFD59CEE01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689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E093-8782-3E75-81D6-15FF0554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500062"/>
            <a:ext cx="8458200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Module 5: Citizen Feedback and Public Alert Management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3DB5-1034-6694-170F-40F3716E5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45720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&amp; Feedback Registration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Citizens can submit complaints, suggestions, and service feedback online. </a:t>
            </a:r>
          </a:p>
          <a:p>
            <a:pPr marL="457200" lvl="0" indent="-45720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Status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can track the progress and resolution status of submitted complaints. </a:t>
            </a:r>
          </a:p>
          <a:p>
            <a:pPr marL="457200" lvl="0" indent="-45720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Polls &amp; Surveys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Conduct polls and surveys to understand public opinions and community needs. </a:t>
            </a:r>
          </a:p>
          <a:p>
            <a:pPr marL="457200" lvl="0" indent="-457200"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Engagement &amp; Notifications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 citizens to participate in discussions and receive updates from city authorities.</a:t>
            </a: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IN" dirty="0"/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45FBE8D1-0EFA-693D-5C90-9DF2E39F6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7621BC22-78CA-0E5E-A1A9-92E6FD9B05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780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711C-1733-C9D1-A90B-9840377E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300" y="500062"/>
            <a:ext cx="48514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AB89-BEB4-2AE4-0540-D605AF140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909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734059" lvl="1" indent="-367030">
              <a:lnSpc>
                <a:spcPct val="170000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centralized platform for accessing city information and services.</a:t>
            </a:r>
          </a:p>
          <a:p>
            <a:pPr marL="734059" lvl="1" indent="-367030">
              <a:lnSpc>
                <a:spcPct val="170000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Simplifies citizen interaction with government departments and authorities.</a:t>
            </a:r>
          </a:p>
          <a:p>
            <a:pPr marL="734059" lvl="1" indent="-367030">
              <a:lnSpc>
                <a:spcPct val="170000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public service delivery through digital and intelligent solutions.</a:t>
            </a:r>
          </a:p>
          <a:p>
            <a:pPr marL="734059" lvl="1" indent="-367030">
              <a:lnSpc>
                <a:spcPct val="170000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efficient complaint registration and tracking mechanisms.</a:t>
            </a:r>
          </a:p>
          <a:p>
            <a:pPr marL="734059" lvl="1" indent="-367030">
              <a:lnSpc>
                <a:spcPct val="170000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citizen engagement, transparency, and urban governance.</a:t>
            </a:r>
          </a:p>
          <a:p>
            <a:pPr marL="734059" lvl="1" indent="-367030">
              <a:lnSpc>
                <a:spcPct val="170000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real-time updates, emergency alerts, and public information.</a:t>
            </a:r>
          </a:p>
          <a:p>
            <a:endParaRPr lang="en-IN" dirty="0"/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592BE04E-46FD-8FD7-BA50-6D92AEA4A3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9A3535F2-EBF1-D21D-F81A-47A296FE3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126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29D5-32FE-07FA-19BC-A34D29DF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0" y="500062"/>
            <a:ext cx="54610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DC5D1-7660-334D-F461-57B425798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4159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842007" lvl="1" indent="-421003">
              <a:lnSpc>
                <a:spcPct val="170000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Artificial Intelligence for personalized citizen recommendations.</a:t>
            </a:r>
          </a:p>
          <a:p>
            <a:pPr marL="842007" lvl="1" indent="-421003">
              <a:lnSpc>
                <a:spcPct val="170000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chatbot support for instant query resolution and assistance.</a:t>
            </a:r>
          </a:p>
          <a:p>
            <a:pPr marL="842007" lvl="1" indent="-421003">
              <a:lnSpc>
                <a:spcPct val="170000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IoT-based smart city monitoring and real-time data collection.</a:t>
            </a:r>
          </a:p>
          <a:p>
            <a:pPr marL="842007" lvl="1" indent="-421003">
              <a:lnSpc>
                <a:spcPct val="170000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multilingual support for wider citizen accessibility.</a:t>
            </a:r>
          </a:p>
          <a:p>
            <a:pPr marL="842007" lvl="1" indent="-421003">
              <a:lnSpc>
                <a:spcPct val="170000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online payment facilities for municipal services.</a:t>
            </a:r>
          </a:p>
          <a:p>
            <a:pPr marL="842007" lvl="1" indent="-421003">
              <a:lnSpc>
                <a:spcPct val="170000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mobile application for improved user convenience.</a:t>
            </a:r>
          </a:p>
          <a:p>
            <a:endParaRPr lang="en-IN" dirty="0"/>
          </a:p>
        </p:txBody>
      </p:sp>
      <p:pic>
        <p:nvPicPr>
          <p:cNvPr id="5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7AFBB877-5798-1404-8742-6604CA6F4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18" b="11266"/>
          <a:stretch>
            <a:fillRect/>
          </a:stretch>
        </p:blipFill>
        <p:spPr bwMode="auto">
          <a:xfrm>
            <a:off x="592666" y="407459"/>
            <a:ext cx="698500" cy="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IMATS is a company that specializes in engineering and design solutions.&#10;&#10;AI-generated content may be incorrect.">
            <a:extLst>
              <a:ext uri="{FF2B5EF4-FFF2-40B4-BE49-F238E27FC236}">
                <a16:creationId xmlns:a16="http://schemas.microsoft.com/office/drawing/2014/main" id="{CBA7B2EE-ADB7-DC3A-2FA9-145DBA4354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91" r="33610"/>
          <a:stretch>
            <a:fillRect/>
          </a:stretch>
        </p:blipFill>
        <p:spPr bwMode="auto">
          <a:xfrm>
            <a:off x="10900833" y="327290"/>
            <a:ext cx="905933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02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hank You Images – Browse 2,456,416 Stock Photos, Vectors, and Video |  Adobe Stock">
            <a:extLst>
              <a:ext uri="{FF2B5EF4-FFF2-40B4-BE49-F238E27FC236}">
                <a16:creationId xmlns:a16="http://schemas.microsoft.com/office/drawing/2014/main" id="{19D60EBA-5BDB-99E5-E415-A537A5B64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4333"/>
            <a:ext cx="12170832" cy="486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794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772</Words>
  <Application>Microsoft Office PowerPoint</Application>
  <PresentationFormat>Widescreen</PresentationFormat>
  <Paragraphs>144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Times New Roman Bold</vt:lpstr>
      <vt:lpstr>Wingdings</vt:lpstr>
      <vt:lpstr>Office Theme</vt:lpstr>
      <vt:lpstr>A Context-Aware Smart City Information Portal for Intelligent Citizen Service Delivery and Public Engagement</vt:lpstr>
      <vt:lpstr>INTRODUCTION</vt:lpstr>
      <vt:lpstr>PROBLEM STATEMENT</vt:lpstr>
      <vt:lpstr>MOTIVATION AND NEED</vt:lpstr>
      <vt:lpstr>OBJECTIVES</vt:lpstr>
      <vt:lpstr>LITERATURE SURVEY</vt:lpstr>
      <vt:lpstr>EXISTING AND LIMITATIONS</vt:lpstr>
      <vt:lpstr>PROPOSED SYSTEM AND NOVEL FEATURES</vt:lpstr>
      <vt:lpstr>METHODOLOGY</vt:lpstr>
      <vt:lpstr>SYSTEM ARCHITECTURE</vt:lpstr>
      <vt:lpstr>Technologies, Software &amp; Hardware</vt:lpstr>
      <vt:lpstr>System Modules</vt:lpstr>
      <vt:lpstr>Module 1: User Management</vt:lpstr>
      <vt:lpstr>Module 2: City Services</vt:lpstr>
      <vt:lpstr>Module 3:Smart Navigation</vt:lpstr>
      <vt:lpstr>Module 4: News &amp; Emergency Alerts</vt:lpstr>
      <vt:lpstr>Module 5: Citizen Feedback and Public Alert Management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 Chinthala</dc:creator>
  <cp:lastModifiedBy>Bhargav Chinthala</cp:lastModifiedBy>
  <cp:revision>2</cp:revision>
  <dcterms:created xsi:type="dcterms:W3CDTF">2026-08-03T03:30:10Z</dcterms:created>
  <dcterms:modified xsi:type="dcterms:W3CDTF">2026-08-03T05:03:04Z</dcterms:modified>
</cp:coreProperties>
</file>